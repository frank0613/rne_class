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9" r:id="rId5"/>
    <p:sldId id="261" r:id="rId6"/>
    <p:sldId id="262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39E27-E3D5-1EB6-32BB-38C1EEAA9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E5CC98C-B5BC-E36C-49BD-D2AC402B46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5071F4-90C0-41C6-5755-5C0819C50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B2C50D-88B0-A0FA-E6C0-16E90AF1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32BA20C-B237-3DAF-578D-906693EA9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1815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6EA282-D991-9019-52E3-CC5463AB8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942D6B-E054-EFE7-A235-B23BAA419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534424-DFA9-8E31-4618-350A415DC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677AA1E-DD7F-0106-302D-50E7014E9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1B2CF9-B7CB-AC0D-26F0-EE3D95A8A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1639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9B63E2-BB26-737A-7118-78A1E19B8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FFE4874-EDE1-2A6C-3A5B-FFE6467B46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E7A2D-4C86-726D-A306-0B8AECBFA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9FDDA9-18DE-60F7-BB5B-77E44D54D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6448B53-FD3F-0873-BA56-E658BC061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092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136721-7ECE-9390-6D90-12B5C055B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4AE2DA-5526-3A3B-223D-ADF91737D3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F9A9A-E7D4-D5B7-F46E-05F3ACA46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954FF2-33FE-F089-3905-AF5522CB8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2B47D4F-2220-AFA4-AC13-74B6DC2E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68C026-9637-AEF3-5C7F-BD0F988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7603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FA64E-B7A4-A964-61FD-E8FE70DA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128259-68F5-52F1-60E5-FF97B2373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673501D-8EC4-B460-65A7-B82D2CBD57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D4FF504-E40A-2272-6DFE-B19B75F9D9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D04CDB8-C0F6-8EC8-A88A-0365A107E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B7A438F-5157-65DD-9984-8A27297B9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FFC541-6184-6AFC-9E2C-11BB0432D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0D7C42E-5CC3-8536-3717-57CE2E155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5279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F55896-946D-C316-BA39-A5F668DB5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0D3980F-FB31-02F4-4BEB-34A22CB9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BC04200-0EDC-DF16-200E-E09E151E7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DF869A-EEE5-CBC6-9E88-6AB051164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1862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2F8547A6-435F-5C5E-0FCF-366EB47B6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E43D3CE-E8C4-1CD3-9C2A-E3766C286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4A3533-20BE-80A1-D923-BCE5DE3F1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827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BEE67F-C09C-BA46-5507-54C8B9518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9FBA0A-3223-C376-E923-047F189A40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E8DD1C-779A-FA4F-4C17-B66A079DE5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7D7F10-4EAB-7D8A-3A30-B5AA7F108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DE81414-3336-3B25-2BD4-F791737BF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317AD67-4D64-B99E-DDD8-EF85CD386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5970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205B29-63F1-6999-E964-F6DC10E50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FA847D5-E22C-CCD4-B80C-EBCDD9934E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565B7D0-1B9D-1915-E533-853F7DBB0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F9C8F1C-26E6-D00C-899B-A5AA575B7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BA8A95-B8C3-647B-61A5-56DDE5216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5C6426E-9349-83E7-816C-804560FA7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25684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156D9E-A4EA-E852-2A9C-B70C6ADC7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0506BF5-F50C-EF6D-105A-CC4A8C740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716950-CDD9-A751-B6BC-CDBECF356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4DEF98-7D20-D85E-07AA-E83233461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FE0E11-9F13-9F7B-EF9A-843ECFB9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324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BE3FF37-4FF7-AEC0-F1CB-D4F1C30296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5463F06-7685-2521-046C-427E8B022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D2EB7EF-CB23-AE97-3EE5-3F1F3E8688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AE2E14-75DB-61D8-0DF7-96228756F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8BC3F82-2944-59F7-4B45-324C9ED0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94451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748C9FE3-C81E-402F-6304-3991A6868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1F548F6-6B24-D4DE-C65E-D1B631A097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8C1E062-AD72-2D4F-1751-DBB936759B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5C403-FE9E-428B-9810-FECD79C6D5D0}" type="datetimeFigureOut">
              <a:rPr lang="zh-TW" altLang="en-US" smtClean="0"/>
              <a:t>2026/3/4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DEADAC-B276-CDC8-CD02-B077D4C8D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A2E77E-BC28-FCB8-617F-6812FC84E4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CD36B1-B2AD-4588-A9F4-29033BC04D5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35036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913327" y="2967335"/>
            <a:ext cx="103653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5400" dirty="0">
                <a:latin typeface="Google Sans Text"/>
              </a:rPr>
              <a:t>Robotic Navigation and Exploration</a:t>
            </a:r>
            <a:endParaRPr lang="zh-TW" altLang="en-US" sz="5400" dirty="0">
              <a:latin typeface="Google Sans Text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DDB39F2-BDE1-912C-8B35-CCD72764A354}"/>
              </a:ext>
            </a:extLst>
          </p:cNvPr>
          <p:cNvSpPr txBox="1"/>
          <p:nvPr/>
        </p:nvSpPr>
        <p:spPr>
          <a:xfrm>
            <a:off x="4415317" y="3890665"/>
            <a:ext cx="33613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/>
              <a:t>HW1: Path Planning</a:t>
            </a:r>
            <a:endParaRPr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5FFE905-6D3D-83C9-1B38-E2E34B8130D2}"/>
              </a:ext>
            </a:extLst>
          </p:cNvPr>
          <p:cNvSpPr txBox="1"/>
          <p:nvPr/>
        </p:nvSpPr>
        <p:spPr>
          <a:xfrm>
            <a:off x="1173326" y="5828914"/>
            <a:ext cx="33613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Name</a:t>
            </a:r>
            <a:r>
              <a:rPr lang="zh-TW" altLang="en-US" b="1" dirty="0">
                <a:latin typeface="Google Sans Text"/>
                <a:ea typeface="微軟正黑體" panose="020B0604030504040204" pitchFamily="34" charset="-120"/>
              </a:rPr>
              <a:t>：顏維廷</a:t>
            </a:r>
            <a:endParaRPr lang="en-US" altLang="zh-TW" b="1" dirty="0">
              <a:latin typeface="Google Sans Text"/>
              <a:ea typeface="微軟正黑體" panose="020B0604030504040204" pitchFamily="34" charset="-120"/>
            </a:endParaRPr>
          </a:p>
          <a:p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Student id</a:t>
            </a:r>
            <a:r>
              <a:rPr lang="zh-TW" altLang="en-US" b="1" dirty="0">
                <a:latin typeface="Google Sans Text"/>
                <a:ea typeface="微軟正黑體" panose="020B0604030504040204" pitchFamily="34" charset="-120"/>
              </a:rPr>
              <a:t>：</a:t>
            </a:r>
            <a:r>
              <a:rPr lang="en-US" altLang="zh-TW" b="1" dirty="0">
                <a:latin typeface="Google Sans Text"/>
                <a:ea typeface="微軟正黑體" panose="020B0604030504040204" pitchFamily="34" charset="-120"/>
              </a:rPr>
              <a:t>M11452023</a:t>
            </a:r>
            <a:endParaRPr lang="zh-TW" altLang="en-US" dirty="0">
              <a:latin typeface="Google Sans Text"/>
            </a:endParaRPr>
          </a:p>
        </p:txBody>
      </p:sp>
    </p:spTree>
    <p:extLst>
      <p:ext uri="{BB962C8B-B14F-4D97-AF65-F5344CB8AC3E}">
        <p14:creationId xmlns:p14="http://schemas.microsoft.com/office/powerpoint/2010/main" val="33539545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A* Implementation</a:t>
            </a:r>
            <a:endParaRPr lang="zh-TW" altLang="en-US" sz="4000" dirty="0">
              <a:latin typeface="Google Sans Tex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FE6ECD2-B55F-918F-E218-E02F6B9EBE45}"/>
                  </a:ext>
                </a:extLst>
              </p:cNvPr>
              <p:cNvSpPr txBox="1"/>
              <p:nvPr/>
            </p:nvSpPr>
            <p:spPr>
              <a:xfrm>
                <a:off x="708053" y="1488221"/>
                <a:ext cx="10665963" cy="8819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b="1" dirty="0"/>
                  <a:t>Priority Queue Management</a:t>
                </a:r>
                <a:r>
                  <a:rPr lang="zh-TW" altLang="en-US" dirty="0"/>
                  <a:t>：</a:t>
                </a:r>
                <a:r>
                  <a:rPr lang="en-US" altLang="zh-TW" dirty="0"/>
                  <a:t>Uses </a:t>
                </a:r>
                <a:r>
                  <a:rPr lang="en-US" altLang="zh-TW" dirty="0" err="1"/>
                  <a:t>heapq</a:t>
                </a:r>
                <a:r>
                  <a:rPr lang="en-US" altLang="zh-TW" dirty="0"/>
                  <a:t> to always expand the node with the lowest estimated total cost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dirty="0"/>
              </a:p>
            </p:txBody>
          </p:sp>
        </mc:Choice>
        <mc:Fallback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EFE6ECD2-B55F-918F-E218-E02F6B9EBE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053" y="1488221"/>
                <a:ext cx="10665963" cy="881973"/>
              </a:xfrm>
              <a:prstGeom prst="rect">
                <a:avLst/>
              </a:prstGeom>
              <a:blipFill>
                <a:blip r:embed="rId2"/>
                <a:stretch>
                  <a:fillRect l="-343" b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: 圓角 4">
            <a:extLst>
              <a:ext uri="{FF2B5EF4-FFF2-40B4-BE49-F238E27FC236}">
                <a16:creationId xmlns:a16="http://schemas.microsoft.com/office/drawing/2014/main" id="{F83E180A-5FA4-7AE9-DD72-D2464C6D1185}"/>
              </a:ext>
            </a:extLst>
          </p:cNvPr>
          <p:cNvSpPr/>
          <p:nvPr/>
        </p:nvSpPr>
        <p:spPr>
          <a:xfrm>
            <a:off x="1034625" y="2563758"/>
            <a:ext cx="5711408" cy="396540"/>
          </a:xfrm>
          <a:prstGeom prst="roundRect">
            <a:avLst>
              <a:gd name="adj" fmla="val 1970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current_f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heapq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heappop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open_list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14167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A* Implementation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95DC75D-D7A5-3C44-A281-2186CDE030F6}"/>
              </a:ext>
            </a:extLst>
          </p:cNvPr>
          <p:cNvSpPr txBox="1"/>
          <p:nvPr/>
        </p:nvSpPr>
        <p:spPr>
          <a:xfrm>
            <a:off x="708052" y="1487956"/>
            <a:ext cx="10665963" cy="88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/>
              <a:t>Neighbor Expansion &amp; Cost Updating</a:t>
            </a:r>
            <a:r>
              <a:rPr lang="zh-TW" altLang="en-US" dirty="0"/>
              <a:t>：</a:t>
            </a:r>
            <a:r>
              <a:rPr lang="en-US" altLang="zh-TW" dirty="0"/>
              <a:t>Calls </a:t>
            </a:r>
            <a:r>
              <a:rPr lang="en-US" altLang="zh-TW" b="1" dirty="0" err="1"/>
              <a:t>get_neighbor_nodes</a:t>
            </a:r>
            <a:r>
              <a:rPr lang="en-US" altLang="zh-TW" dirty="0"/>
              <a:t> and updates the </a:t>
            </a:r>
            <a:r>
              <a:rPr lang="en-US" altLang="zh-TW" b="1" dirty="0" err="1"/>
              <a:t>g_score</a:t>
            </a:r>
            <a:r>
              <a:rPr lang="en-US" altLang="zh-TW" dirty="0"/>
              <a:t> if a shorter path is found</a:t>
            </a:r>
            <a:endParaRPr lang="zh-TW" altLang="en-US" dirty="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EC4A79D-CC97-3A6C-F7F8-12A158309A4E}"/>
              </a:ext>
            </a:extLst>
          </p:cNvPr>
          <p:cNvSpPr/>
          <p:nvPr/>
        </p:nvSpPr>
        <p:spPr>
          <a:xfrm>
            <a:off x="1080527" y="2733870"/>
            <a:ext cx="10030946" cy="3675943"/>
          </a:xfrm>
          <a:prstGeom prst="roundRect">
            <a:avLst>
              <a:gd name="adj" fmla="val 376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rgbClr val="C586C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get_neighbor_nodes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current_node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visited_nodes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Calculate tentative </a:t>
            </a:r>
            <a:r>
              <a:rPr lang="en-US" altLang="zh-TW" sz="12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g_score</a:t>
            </a:r>
            <a:endParaRPr lang="en-US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tentative_g_score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g_score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current_node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calculate_node_distance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current_node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2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enqueued_nodes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tentative_g_score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g_score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'inf'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)):</a:t>
            </a: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</a:p>
          <a:p>
            <a:r>
              <a:rPr lang="en-US" altLang="zh-TW" sz="1200" dirty="0">
                <a:solidFill>
                  <a:srgbClr val="CCCCCC"/>
                </a:solidFill>
                <a:latin typeface="Consolas" panose="020B0609020204030204" pitchFamily="49" charset="0"/>
              </a:rPr>
              <a:t>	</a:t>
            </a:r>
            <a:r>
              <a:rPr lang="zh-TW" altLang="en-US" sz="1200" dirty="0">
                <a:solidFill>
                  <a:srgbClr val="CCCCCC"/>
                </a:solidFill>
                <a:latin typeface="Consolas" panose="020B0609020204030204" pitchFamily="49" charset="0"/>
              </a:rPr>
              <a:t>     </a:t>
            </a:r>
            <a:r>
              <a:rPr lang="en-US" altLang="zh-TW" sz="12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Update the best path to neighbor</a:t>
            </a:r>
            <a:endParaRPr lang="en-US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current_node</a:t>
            </a:r>
            <a:endParaRPr lang="en-US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tentative_g_score</a:t>
            </a:r>
            <a:endParaRPr lang="en-US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g_score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tentative_g_score</a:t>
            </a:r>
            <a:endParaRPr lang="en-US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f_score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tentative_g_score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calculate_node_distance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goal_node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enqueued_nodes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TW" sz="12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tentative_g_score</a:t>
            </a:r>
            <a:endParaRPr lang="en-US" altLang="zh-TW" sz="12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2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heapq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heappush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2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open_list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zh-TW" sz="12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f_score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2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neighbor</a:t>
            </a:r>
            <a:r>
              <a:rPr lang="en-US" altLang="zh-TW" sz="12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27770225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RRT* Implementation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2134392-AF53-D89E-4DE9-0A4654020F68}"/>
              </a:ext>
            </a:extLst>
          </p:cNvPr>
          <p:cNvSpPr txBox="1"/>
          <p:nvPr/>
        </p:nvSpPr>
        <p:spPr>
          <a:xfrm>
            <a:off x="708052" y="1487956"/>
            <a:ext cx="10665963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/>
              <a:t>Choose Best Parent</a:t>
            </a:r>
            <a:r>
              <a:rPr lang="zh-TW" altLang="en-US" dirty="0"/>
              <a:t>：</a:t>
            </a:r>
            <a:r>
              <a:rPr lang="en-US" altLang="zh-TW" dirty="0"/>
              <a:t>Searches within </a:t>
            </a:r>
            <a:r>
              <a:rPr lang="en-US" altLang="zh-TW" b="1" dirty="0" err="1"/>
              <a:t>search_radius</a:t>
            </a:r>
            <a:r>
              <a:rPr lang="en-US" altLang="zh-TW" dirty="0"/>
              <a:t> to find a neighbor that minimizes the cumulative cost of the </a:t>
            </a:r>
            <a:r>
              <a:rPr lang="en-US" altLang="zh-TW" b="1" dirty="0" err="1"/>
              <a:t>new_node</a:t>
            </a:r>
            <a:endParaRPr lang="zh-TW" altLang="en-US" b="1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16EE9E-CFDE-FF88-8930-9E4F6AA1AAD9}"/>
              </a:ext>
            </a:extLst>
          </p:cNvPr>
          <p:cNvSpPr/>
          <p:nvPr/>
        </p:nvSpPr>
        <p:spPr>
          <a:xfrm>
            <a:off x="1771837" y="3429000"/>
            <a:ext cx="8648326" cy="2245062"/>
          </a:xfrm>
          <a:prstGeom prst="roundRect">
            <a:avLst>
              <a:gd name="adj" fmla="val 376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near_nodes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check_collision_free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occupancy_map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calculate_node_distance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best_parent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best_parent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min_cost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798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RRT* Implementation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2134392-AF53-D89E-4DE9-0A4654020F68}"/>
              </a:ext>
            </a:extLst>
          </p:cNvPr>
          <p:cNvSpPr txBox="1"/>
          <p:nvPr/>
        </p:nvSpPr>
        <p:spPr>
          <a:xfrm>
            <a:off x="708052" y="1487956"/>
            <a:ext cx="10665963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/>
              <a:t>Rewiring the Tree</a:t>
            </a:r>
            <a:r>
              <a:rPr lang="zh-TW" altLang="en-US" dirty="0"/>
              <a:t>：</a:t>
            </a:r>
            <a:r>
              <a:rPr lang="en-US" altLang="zh-TW" dirty="0"/>
              <a:t>Checks if neighboring nodes can achieve a lower cost by switching their </a:t>
            </a:r>
            <a:r>
              <a:rPr lang="en-US" altLang="zh-TW" b="1" dirty="0"/>
              <a:t>parent</a:t>
            </a:r>
            <a:r>
              <a:rPr lang="en-US" altLang="zh-TW" dirty="0"/>
              <a:t> to the </a:t>
            </a:r>
            <a:r>
              <a:rPr lang="en-US" altLang="zh-TW" b="1" dirty="0" err="1"/>
              <a:t>new_node</a:t>
            </a:r>
            <a:endParaRPr lang="zh-TW" altLang="en-US" b="1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16EE9E-CFDE-FF88-8930-9E4F6AA1AAD9}"/>
              </a:ext>
            </a:extLst>
          </p:cNvPr>
          <p:cNvSpPr/>
          <p:nvPr/>
        </p:nvSpPr>
        <p:spPr>
          <a:xfrm>
            <a:off x="1430982" y="3228392"/>
            <a:ext cx="9330036" cy="2348144"/>
          </a:xfrm>
          <a:prstGeom prst="roundRect">
            <a:avLst>
              <a:gd name="adj" fmla="val 376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near_nodes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best_parent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new_potential_cost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calculate_node_distance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new_potential_cost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check_collision_free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occupancy_map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zh-TW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</a:t>
            </a:r>
            <a:r>
              <a:rPr lang="zh-TW" altLang="en-US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near_node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new_potential_cost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442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88C38C0-724F-7C3F-D5F5-A3432D65CA12}"/>
              </a:ext>
            </a:extLst>
          </p:cNvPr>
          <p:cNvSpPr txBox="1"/>
          <p:nvPr/>
        </p:nvSpPr>
        <p:spPr>
          <a:xfrm>
            <a:off x="708053" y="588029"/>
            <a:ext cx="75588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TW" sz="4000" dirty="0">
                <a:latin typeface="Google Sans Text"/>
              </a:rPr>
              <a:t>RRT* Implementation</a:t>
            </a:r>
            <a:endParaRPr lang="zh-TW" altLang="en-US" sz="4000" dirty="0">
              <a:latin typeface="Google Sans Text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2134392-AF53-D89E-4DE9-0A4654020F68}"/>
              </a:ext>
            </a:extLst>
          </p:cNvPr>
          <p:cNvSpPr txBox="1"/>
          <p:nvPr/>
        </p:nvSpPr>
        <p:spPr>
          <a:xfrm>
            <a:off x="708052" y="1487956"/>
            <a:ext cx="10665963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b="1" dirty="0"/>
              <a:t>Goal Threshold Check</a:t>
            </a:r>
            <a:r>
              <a:rPr lang="zh-TW" altLang="en-US" dirty="0"/>
              <a:t>：</a:t>
            </a:r>
            <a:r>
              <a:rPr lang="en-US" altLang="zh-TW" dirty="0"/>
              <a:t>Sets </a:t>
            </a:r>
            <a:r>
              <a:rPr lang="en-US" altLang="zh-TW" b="1" dirty="0" err="1"/>
              <a:t>is_done</a:t>
            </a:r>
            <a:r>
              <a:rPr lang="en-US" altLang="zh-TW" b="1" dirty="0"/>
              <a:t> </a:t>
            </a:r>
            <a:r>
              <a:rPr lang="en-US" altLang="zh-TW" dirty="0"/>
              <a:t>when the tree reaches within </a:t>
            </a:r>
            <a:r>
              <a:rPr lang="en-US" altLang="zh-TW" b="1" dirty="0" err="1"/>
              <a:t>goal_threshold</a:t>
            </a:r>
            <a:r>
              <a:rPr lang="en-US" altLang="zh-TW" dirty="0"/>
              <a:t> of the target coordinates</a:t>
            </a:r>
            <a:endParaRPr lang="zh-TW" altLang="en-US" b="1" dirty="0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16EE9E-CFDE-FF88-8930-9E4F6AA1AAD9}"/>
              </a:ext>
            </a:extLst>
          </p:cNvPr>
          <p:cNvSpPr/>
          <p:nvPr/>
        </p:nvSpPr>
        <p:spPr>
          <a:xfrm>
            <a:off x="876682" y="3429000"/>
            <a:ext cx="10328701" cy="1774311"/>
          </a:xfrm>
          <a:prstGeom prst="roundRect">
            <a:avLst>
              <a:gd name="adj" fmla="val 3769"/>
            </a:avLst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calculate_node_distance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goal_threshold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TW" sz="14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check_collision_free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occupancy_map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parent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endParaRPr lang="en-US" altLang="zh-TW" sz="1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cost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calculate_node_distance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visited_nodes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add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goal_node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is_done</a:t>
            </a:r>
            <a:r>
              <a:rPr lang="en-US" altLang="zh-TW" sz="1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TW" sz="1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set</a:t>
            </a:r>
            <a:r>
              <a:rPr lang="en-US" altLang="zh-TW" sz="1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030977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687</Words>
  <Application>Microsoft Office PowerPoint</Application>
  <PresentationFormat>寬螢幕</PresentationFormat>
  <Paragraphs>53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Google Sans Text</vt:lpstr>
      <vt:lpstr>Aptos</vt:lpstr>
      <vt:lpstr>Aptos Display</vt:lpstr>
      <vt:lpstr>Arial</vt:lpstr>
      <vt:lpstr>Cambria Math</vt:lpstr>
      <vt:lpstr>Consolas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Yen Frank</dc:creator>
  <cp:lastModifiedBy>Yen Frank</cp:lastModifiedBy>
  <cp:revision>5</cp:revision>
  <dcterms:created xsi:type="dcterms:W3CDTF">2026-03-04T07:53:58Z</dcterms:created>
  <dcterms:modified xsi:type="dcterms:W3CDTF">2026-03-04T09:11:37Z</dcterms:modified>
</cp:coreProperties>
</file>