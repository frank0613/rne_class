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39E27-E3D5-1EB6-32BB-38C1EEAA9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E5CC98C-B5BC-E36C-49BD-D2AC402B4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5071F4-90C0-41C6-5755-5C0819C5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B2C50D-88B0-A0FA-E6C0-16E90AF14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2BA20C-B237-3DAF-578D-906693EA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81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EA282-D991-9019-52E3-CC5463AB8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42D6B-E054-EFE7-A235-B23BAA419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534424-DFA9-8E31-4618-350A415D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77AA1E-DD7F-0106-302D-50E7014E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1B2CF9-B7CB-AC0D-26F0-EE3D95A8A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398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B63E2-BB26-737A-7118-78A1E19B8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FE4874-EDE1-2A6C-3A5B-FFE6467B4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CE7A2D-4C86-726D-A306-0B8AECBFA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9FDDA9-18DE-60F7-BB5B-77E44D54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448B53-FD3F-0873-BA56-E658BC06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09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136721-7ECE-9390-6D90-12B5C055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4AE2DA-5526-3A3B-223D-ADF91737D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7F9A9A-E7D4-D5B7-F46E-05F3ACA46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954FF2-33FE-F089-3905-AF5522CB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B47D4F-2220-AFA4-AC13-74B6DC2E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68C026-9637-AEF3-5C7F-BD0F988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60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EFA64E-B7A4-A964-61FD-E8FE70DA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128259-68F5-52F1-60E5-FF97B2373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73501D-8EC4-B460-65A7-B82D2CBD5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D4FF504-E40A-2272-6DFE-B19B75F9D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D04CDB8-C0F6-8EC8-A88A-0365A107E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B7A438F-5157-65DD-9984-8A27297B9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FFFC541-6184-6AFC-9E2C-11BB0432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0D7C42E-5CC3-8536-3717-57CE2E15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5279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F55896-946D-C316-BA39-A5F668DB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0D3980F-FB31-02F4-4BEB-34A22CB9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BC04200-0EDC-DF16-200E-E09E151E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DF869A-EEE5-CBC6-9E88-6AB05116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862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F8547A6-435F-5C5E-0FCF-366EB47B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E43D3CE-E8C4-1CD3-9C2A-E3766C286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4A3533-20BE-80A1-D923-BCE5DE3F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27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EE67F-C09C-BA46-5507-54C8B9518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9FBA0A-3223-C376-E923-047F189A4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E8DD1C-779A-FA4F-4C17-B66A079DE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37D7F10-4EAB-7D8A-3A30-B5AA7F108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E81414-3336-3B25-2BD4-F791737BF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7AD67-4D64-B99E-DDD8-EF85CD38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597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05B29-63F1-6999-E964-F6DC10E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FA847D5-E22C-CCD4-B80C-EBCDD9934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565B7D0-1B9D-1915-E533-853F7DBB0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9C8F1C-26E6-D00C-899B-A5AA575B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1BA8A95-B8C3-647B-61A5-56DDE521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C6426E-9349-83E7-816C-804560FA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68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156D9E-A4EA-E852-2A9C-B70C6ADC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506BF5-F50C-EF6D-105A-CC4A8C740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716950-CDD9-A751-B6BC-CDBECF356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4DEF98-7D20-D85E-07AA-E8323346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FE0E11-9F13-9F7B-EF9A-843ECFB9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324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BE3FF37-4FF7-AEC0-F1CB-D4F1C3029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5463F06-7685-2521-046C-427E8B022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2EB7EF-CB23-AE97-3EE5-3F1F3E86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AE2E14-75DB-61D8-0DF7-96228756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BC3F82-2944-59F7-4B45-324C9ED0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445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8C9FE3-C81E-402F-6304-3991A686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F548F6-6B24-D4DE-C65E-D1B631A09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C1E062-AD72-2D4F-1751-DBB936759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5C403-FE9E-428B-9810-FECD79C6D5D0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DEADAC-B276-CDC8-CD02-B077D4C8D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A2E77E-BC28-FCB8-617F-6812FC84E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350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913327" y="2967335"/>
            <a:ext cx="103653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5400" dirty="0">
                <a:latin typeface="Google Sans Text"/>
              </a:rPr>
              <a:t>Robotic Navigation and Exploration</a:t>
            </a:r>
            <a:endParaRPr lang="zh-TW" altLang="en-US" sz="5400" dirty="0">
              <a:latin typeface="Google Sans Text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DDB39F2-BDE1-912C-8B35-CCD72764A354}"/>
              </a:ext>
            </a:extLst>
          </p:cNvPr>
          <p:cNvSpPr txBox="1"/>
          <p:nvPr/>
        </p:nvSpPr>
        <p:spPr>
          <a:xfrm>
            <a:off x="4415317" y="3890665"/>
            <a:ext cx="33613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/>
              <a:t>HW3-2: </a:t>
            </a:r>
            <a:r>
              <a:rPr lang="en-US" altLang="zh-TW" sz="2000" dirty="0" err="1"/>
              <a:t>Proly</a:t>
            </a:r>
            <a:endParaRPr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FFE905-6D3D-83C9-1B38-E2E34B8130D2}"/>
              </a:ext>
            </a:extLst>
          </p:cNvPr>
          <p:cNvSpPr txBox="1"/>
          <p:nvPr/>
        </p:nvSpPr>
        <p:spPr>
          <a:xfrm>
            <a:off x="1173326" y="5828914"/>
            <a:ext cx="3361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Google Sans Text"/>
                <a:ea typeface="微軟正黑體" panose="020B0604030504040204" pitchFamily="34" charset="-120"/>
              </a:rPr>
              <a:t>Name</a:t>
            </a:r>
            <a:r>
              <a:rPr lang="zh-TW" altLang="en-US" b="1" dirty="0">
                <a:latin typeface="Google Sans Text"/>
                <a:ea typeface="微軟正黑體" panose="020B0604030504040204" pitchFamily="34" charset="-120"/>
              </a:rPr>
              <a:t>：顏維廷</a:t>
            </a:r>
            <a:endParaRPr lang="en-US" altLang="zh-TW" b="1" dirty="0">
              <a:latin typeface="Google Sans Text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Google Sans Text"/>
                <a:ea typeface="微軟正黑體" panose="020B0604030504040204" pitchFamily="34" charset="-120"/>
              </a:rPr>
              <a:t>Student id</a:t>
            </a:r>
            <a:r>
              <a:rPr lang="zh-TW" altLang="en-US" b="1" dirty="0">
                <a:latin typeface="Google Sans Text"/>
                <a:ea typeface="微軟正黑體" panose="020B0604030504040204" pitchFamily="34" charset="-120"/>
              </a:rPr>
              <a:t>：</a:t>
            </a:r>
            <a:r>
              <a:rPr lang="en-US" altLang="zh-TW" b="1" dirty="0">
                <a:latin typeface="Google Sans Text"/>
                <a:ea typeface="微軟正黑體" panose="020B0604030504040204" pitchFamily="34" charset="-120"/>
              </a:rPr>
              <a:t>M11452023</a:t>
            </a:r>
            <a:endParaRPr lang="zh-TW" altLang="en-US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353954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 dirty="0">
                <a:latin typeface="Google Sans Text"/>
              </a:rPr>
              <a:t>Flag</a:t>
            </a:r>
            <a:r>
              <a:rPr lang="zh-TW" altLang="en-US" sz="4000" dirty="0">
                <a:latin typeface="Google Sans Text"/>
              </a:rPr>
              <a:t> </a:t>
            </a:r>
            <a:r>
              <a:rPr lang="en-US" altLang="zh-TW" sz="4000" dirty="0">
                <a:latin typeface="Google Sans Text"/>
              </a:rPr>
              <a:t>Capture</a:t>
            </a:r>
            <a:r>
              <a:rPr lang="zh-TW" altLang="en-US" sz="4000" dirty="0">
                <a:latin typeface="Google Sans Text"/>
              </a:rPr>
              <a:t> </a:t>
            </a:r>
            <a:r>
              <a:rPr lang="en-US" altLang="zh-TW" sz="4000" dirty="0">
                <a:latin typeface="Google Sans Text"/>
              </a:rPr>
              <a:t>Reward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E6ECD2-B55F-918F-E218-E02F6B9EBE45}"/>
              </a:ext>
            </a:extLst>
          </p:cNvPr>
          <p:cNvSpPr txBox="1"/>
          <p:nvPr/>
        </p:nvSpPr>
        <p:spPr>
          <a:xfrm>
            <a:off x="708054" y="1488221"/>
            <a:ext cx="10464772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Gave a reward of 100 for reaching a checkpoint, but it was not strong </a:t>
            </a:r>
            <a:r>
              <a:rPr lang="en-US" altLang="zh-TW" dirty="0" err="1"/>
              <a:t>enough.So</a:t>
            </a:r>
            <a:r>
              <a:rPr lang="en-US" altLang="zh-TW" dirty="0"/>
              <a:t> we increased it to 500, and finally to 800 to better encourage progress.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83E180A-5FA4-7AE9-DD72-D2464C6D1185}"/>
              </a:ext>
            </a:extLst>
          </p:cNvPr>
          <p:cNvSpPr/>
          <p:nvPr/>
        </p:nvSpPr>
        <p:spPr>
          <a:xfrm>
            <a:off x="2284200" y="3333750"/>
            <a:ext cx="7623600" cy="2636893"/>
          </a:xfrm>
          <a:prstGeom prst="roundRect">
            <a:avLst>
              <a:gd name="adj" fmla="val 4899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calculate_flag_capture_reward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prev_observation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None: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prev_checkpoint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prev_observation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last_checkpoint_index</a:t>
            </a:r>
            <a:r>
              <a:rPr lang="en-US" altLang="zh-TW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curr_checkpoint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observation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last_checkpoint_index</a:t>
            </a:r>
            <a:r>
              <a:rPr lang="en-US" altLang="zh-TW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curr_checkpoint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prev_checkpoint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800.0</a:t>
            </a:r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16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 dirty="0">
                <a:latin typeface="Google Sans Text"/>
              </a:rPr>
              <a:t>Distance</a:t>
            </a:r>
            <a:r>
              <a:rPr lang="zh-TW" altLang="en-US" sz="4000" dirty="0">
                <a:latin typeface="Google Sans Text"/>
              </a:rPr>
              <a:t> </a:t>
            </a:r>
            <a:r>
              <a:rPr lang="en-US" altLang="zh-TW" sz="4000" dirty="0">
                <a:latin typeface="Google Sans Text"/>
              </a:rPr>
              <a:t>Reward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E6ECD2-B55F-918F-E218-E02F6B9EBE45}"/>
              </a:ext>
            </a:extLst>
          </p:cNvPr>
          <p:cNvSpPr txBox="1"/>
          <p:nvPr/>
        </p:nvSpPr>
        <p:spPr>
          <a:xfrm>
            <a:off x="708054" y="1488221"/>
            <a:ext cx="10312371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Give a larger reward when getting closer (×5) and a smaller penalty when moving away (×3) to encourage forward progress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We also clamp the distance change to avoid overly large rewards and keep training stable</a:t>
            </a:r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83E180A-5FA4-7AE9-DD72-D2464C6D1185}"/>
              </a:ext>
            </a:extLst>
          </p:cNvPr>
          <p:cNvSpPr/>
          <p:nvPr/>
        </p:nvSpPr>
        <p:spPr>
          <a:xfrm>
            <a:off x="2180325" y="2979409"/>
            <a:ext cx="7831350" cy="3741793"/>
          </a:xfrm>
          <a:prstGeom prst="roundRect">
            <a:avLst>
              <a:gd name="adj" fmla="val 4899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calculate_distance_reward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prev_observation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None: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prev_pos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prev_observation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target_position</a:t>
            </a:r>
            <a:r>
              <a:rPr lang="en-US" altLang="zh-TW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curr_pos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observation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target_position</a:t>
            </a:r>
            <a:r>
              <a:rPr lang="en-US" altLang="zh-TW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prev_dist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prev_pos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]**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prev_pos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]**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)**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curr_dist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curr_pos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]**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curr_pos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]**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)**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prev_dist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curr_dist</a:t>
            </a:r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clamped_diff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-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clamped_diff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5.0</a:t>
            </a:r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clamped_diff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0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 dirty="0">
                <a:latin typeface="Google Sans Text"/>
              </a:rPr>
              <a:t>Survival</a:t>
            </a:r>
            <a:r>
              <a:rPr lang="zh-TW" altLang="en-US" sz="4000" dirty="0">
                <a:latin typeface="Google Sans Text"/>
              </a:rPr>
              <a:t> </a:t>
            </a:r>
            <a:r>
              <a:rPr lang="en-US" altLang="zh-TW" sz="4000" dirty="0">
                <a:latin typeface="Google Sans Text"/>
              </a:rPr>
              <a:t>Reward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E6ECD2-B55F-918F-E218-E02F6B9EBE45}"/>
              </a:ext>
            </a:extLst>
          </p:cNvPr>
          <p:cNvSpPr txBox="1"/>
          <p:nvPr/>
        </p:nvSpPr>
        <p:spPr>
          <a:xfrm>
            <a:off x="708054" y="1488221"/>
            <a:ext cx="10312371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During training, Gradually increased the death </a:t>
            </a:r>
            <a:r>
              <a:rPr lang="en-US" altLang="zh-TW" dirty="0" err="1"/>
              <a:t>penalty:from</a:t>
            </a:r>
            <a:r>
              <a:rPr lang="en-US" altLang="zh-TW" dirty="0"/>
              <a:t> -300 → -500 → -1000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During training, Adjusted the survival reward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from 0.1 → -0.1 → 0.2</a:t>
            </a:r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83E180A-5FA4-7AE9-DD72-D2464C6D1185}"/>
              </a:ext>
            </a:extLst>
          </p:cNvPr>
          <p:cNvSpPr/>
          <p:nvPr/>
        </p:nvSpPr>
        <p:spPr>
          <a:xfrm>
            <a:off x="3120589" y="4141460"/>
            <a:ext cx="5487300" cy="1298882"/>
          </a:xfrm>
          <a:prstGeom prst="roundRect">
            <a:avLst>
              <a:gd name="adj" fmla="val 4899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calculate_distance_reward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observation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agent_health</a:t>
            </a:r>
            <a:r>
              <a:rPr lang="en-US" altLang="zh-TW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&lt;=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1000.0</a:t>
            </a:r>
          </a:p>
          <a:p>
            <a:r>
              <a:rPr lang="zh-TW" altLang="en-US" sz="1400" dirty="0">
                <a:solidFill>
                  <a:srgbClr val="C586C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endParaRPr lang="en-US" altLang="zh-TW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98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>
                <a:latin typeface="Google Sans Text"/>
              </a:rPr>
              <a:t>Avoidance Reward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E6ECD2-B55F-918F-E218-E02F6B9EBE45}"/>
              </a:ext>
            </a:extLst>
          </p:cNvPr>
          <p:cNvSpPr txBox="1"/>
          <p:nvPr/>
        </p:nvSpPr>
        <p:spPr>
          <a:xfrm>
            <a:off x="708054" y="1488221"/>
            <a:ext cx="10312371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We check the terrain in front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Dangerous terrain (-1) → larger penalty (-10)Normal obstacle (1) → smaller penalty (-5)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If the agent barely moves, a small penalty (-0.5) is added to prevent it from getting stuck</a:t>
            </a:r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83E180A-5FA4-7AE9-DD72-D2464C6D1185}"/>
              </a:ext>
            </a:extLst>
          </p:cNvPr>
          <p:cNvSpPr/>
          <p:nvPr/>
        </p:nvSpPr>
        <p:spPr>
          <a:xfrm>
            <a:off x="1299579" y="2979409"/>
            <a:ext cx="9592841" cy="3666931"/>
          </a:xfrm>
          <a:prstGeom prst="roundRect">
            <a:avLst>
              <a:gd name="adj" fmla="val 4899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calculate_avoidance_reward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observation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terrain_grid</a:t>
            </a:r>
            <a:r>
              <a:rPr lang="en-US" altLang="zh-TW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avoid_reward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zh-TW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front_terrain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zh-TW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terrain_type</a:t>
            </a:r>
            <a:r>
              <a:rPr lang="en-US" altLang="zh-TW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front_terrain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-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avoid_reward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10.0</a:t>
            </a:r>
            <a:endParaRPr lang="en-US" altLang="zh-TW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front_terrain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avoid_reward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5.0</a:t>
            </a:r>
            <a:endParaRPr lang="en-US" altLang="zh-TW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curr_pos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observation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target_position</a:t>
            </a:r>
            <a:r>
              <a:rPr lang="en-US" altLang="zh-TW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prev_observation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None: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prev_pos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prev_observation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target_position</a:t>
            </a:r>
            <a:r>
              <a:rPr lang="en-US" altLang="zh-TW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dist_moved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curr_pos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]-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prev_pos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])**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curr_pos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]-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prev_pos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])**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)**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endParaRPr lang="en-US" altLang="zh-TW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dist_moved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avoid_reward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zh-TW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endParaRPr lang="en-US" altLang="zh-TW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avoid_reward</a:t>
            </a:r>
            <a:endParaRPr lang="en-US" altLang="zh-TW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03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595</Words>
  <Application>Microsoft Office PowerPoint</Application>
  <PresentationFormat>寬螢幕</PresentationFormat>
  <Paragraphs>63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Google Sans Text</vt:lpstr>
      <vt:lpstr>Aptos</vt:lpstr>
      <vt:lpstr>Aptos Display</vt:lpstr>
      <vt:lpstr>Arial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Yen Frank</dc:creator>
  <cp:lastModifiedBy>Yen Frank</cp:lastModifiedBy>
  <cp:revision>17</cp:revision>
  <dcterms:created xsi:type="dcterms:W3CDTF">2026-03-04T07:53:58Z</dcterms:created>
  <dcterms:modified xsi:type="dcterms:W3CDTF">2026-04-10T11:34:17Z</dcterms:modified>
</cp:coreProperties>
</file>